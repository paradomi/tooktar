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7816" cy="30275784"/>
  <p:notesSz cx="30275784" cy="213878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0930616" cy="29818584"/>
          </a:xfrm>
          <a:prstGeom prst="roundRect">
            <a:avLst>
              <a:gd name="adj" fmla="val 1747"/>
            </a:avLst>
          </a:prstGeom>
          <a:solidFill>
            <a:srgbClr val="FFFFFF"/>
          </a:solidFill>
          <a:ln w="38100">
            <a:solidFill>
              <a:srgbClr val="D6E6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20290536" cy="2880360"/>
          </a:xfrm>
          <a:prstGeom prst="roundRect">
            <a:avLst>
              <a:gd name="adj" fmla="val 11111"/>
            </a:avLst>
          </a:prstGeom>
          <a:solidFill>
            <a:srgbClr val="002F6C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188720"/>
            <a:ext cx="1371600" cy="1371600"/>
          </a:xfrm>
          <a:prstGeom prst="oval">
            <a:avLst/>
          </a:prstGeom>
          <a:ln w="101600">
            <a:solidFill>
              <a:srgbClr val="FFD2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240280" y="233172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777240"/>
            <a:ext cx="1718157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이동의 장벽을 툭, 넘다</a:t>
            </a:r>
            <a:endParaRPr lang="en-US" sz="6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CFE3F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: 교통약자 전용 배리어프리 대중교통 안내 앱  「툭 타」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6489192" cy="9842602"/>
          </a:xfrm>
          <a:prstGeom prst="roundRect">
            <a:avLst>
              <a:gd name="adj" fmla="val 3946"/>
            </a:avLst>
          </a:prstGeom>
          <a:solidFill>
            <a:srgbClr val="FFFFFF"/>
          </a:solidFill>
          <a:ln w="31750">
            <a:solidFill>
              <a:srgbClr val="D6E6F5"/>
            </a:solidFill>
            <a:prstDash val="solid"/>
          </a:ln>
          <a:effectLst>
            <a:outerShdw sx="100000" sy="100000" kx="0" ky="0" algn="bl" rotWithShape="0" blurRad="76200" dist="38100" dir="5400000">
              <a:srgbClr val="B9CBDD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4087368"/>
            <a:ext cx="1143000" cy="1143000"/>
          </a:xfrm>
          <a:prstGeom prst="roundRect">
            <a:avLst>
              <a:gd name="adj" fmla="val 17600"/>
            </a:avLst>
          </a:prstGeom>
          <a:solidFill>
            <a:srgbClr val="1F77B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87368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1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2286000" y="4087368"/>
            <a:ext cx="43403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개발 배경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394960"/>
            <a:ext cx="5757672" cy="0"/>
          </a:xfrm>
          <a:prstGeom prst="line">
            <a:avLst/>
          </a:prstGeom>
          <a:noFill/>
          <a:ln w="25400">
            <a:solidFill>
              <a:srgbClr val="D6E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614416"/>
            <a:ext cx="5666232" cy="77486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휠체어·유모차·고령자·시각장애인 등 교통약자는 대중교통 이용 시 큰 장벽에 부딪힌다.</a:t>
            </a:r>
            <a:endParaRPr lang="en-US" sz="17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계단, 저상버스 운행 여부, 역내 엘리베이터·경사로 위치 정보를 한 번에 알기 어렵다.</a:t>
            </a:r>
            <a:endParaRPr lang="en-US" sz="17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기존 길찾기 앱은 「최단·최속」에만 초점 → 배리어프리 정보가 부족하다.</a:t>
            </a:r>
            <a:endParaRPr lang="en-US" sz="17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1F77B4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“탈 수 있는 경로”가 필요하다.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14048842"/>
            <a:ext cx="6489192" cy="14352422"/>
          </a:xfrm>
          <a:prstGeom prst="roundRect">
            <a:avLst>
              <a:gd name="adj" fmla="val 3946"/>
            </a:avLst>
          </a:prstGeom>
          <a:solidFill>
            <a:srgbClr val="FFFFFF"/>
          </a:solidFill>
          <a:ln w="31750">
            <a:solidFill>
              <a:srgbClr val="D6E6F5"/>
            </a:solidFill>
            <a:prstDash val="solid"/>
          </a:ln>
          <a:effectLst>
            <a:outerShdw sx="100000" sy="100000" kx="0" ky="0" algn="bl" rotWithShape="0" blurRad="76200" dist="38100" dir="5400000">
              <a:srgbClr val="B9CBDD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14341450"/>
            <a:ext cx="1143000" cy="1143000"/>
          </a:xfrm>
          <a:prstGeom prst="roundRect">
            <a:avLst>
              <a:gd name="adj" fmla="val 17600"/>
            </a:avLst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434145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2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2286000" y="14341450"/>
            <a:ext cx="43403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문제 설정 &amp; 목표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14400" y="15649042"/>
            <a:ext cx="5757672" cy="0"/>
          </a:xfrm>
          <a:prstGeom prst="line">
            <a:avLst/>
          </a:prstGeom>
          <a:noFill/>
          <a:ln w="25400">
            <a:solidFill>
              <a:srgbClr val="D6E6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15868498"/>
            <a:ext cx="5666232" cy="12258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9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문제 정의</a:t>
            </a:r>
            <a:endParaRPr lang="en-US" sz="19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저상버스 실제 운행 여부를 알 수 없음</a:t>
            </a:r>
            <a:endParaRPr lang="en-US" sz="19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역내 엘리베이터·리프트·경사로 정보 분산</a:t>
            </a:r>
            <a:endParaRPr lang="en-US" sz="19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계단 없는 도보 경로 안내 부재</a:t>
            </a:r>
            <a:endParaRPr lang="en-US" sz="19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교통약자 맞춤 경로 정렬 기능 없음</a:t>
            </a:r>
            <a:endParaRPr lang="en-US" sz="1900" dirty="0"/>
          </a:p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목표</a:t>
            </a:r>
            <a:endParaRPr lang="en-US" sz="19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0E7C86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교통약자 관점에서 안전하게 “탈 수 있는” 경로를 한 화면에 안내하는 배리어프리 길찾기 앱</a:t>
            </a:r>
            <a:endParaRPr lang="en-US" sz="19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5A6B7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실시간 도착·시설·AI 안내까지 통합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449312" y="3794760"/>
            <a:ext cx="6489192" cy="24606504"/>
          </a:xfrm>
          <a:prstGeom prst="roundRect">
            <a:avLst>
              <a:gd name="adj" fmla="val 3946"/>
            </a:avLst>
          </a:prstGeom>
          <a:solidFill>
            <a:srgbClr val="FFFFFF"/>
          </a:solidFill>
          <a:ln w="31750">
            <a:solidFill>
              <a:srgbClr val="D6E6F5"/>
            </a:solidFill>
            <a:prstDash val="solid"/>
          </a:ln>
          <a:effectLst>
            <a:outerShdw sx="100000" sy="100000" kx="0" ky="0" algn="bl" rotWithShape="0" blurRad="76200" dist="38100" dir="5400000">
              <a:srgbClr val="B9CBDD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69352" y="4087368"/>
            <a:ext cx="1143000" cy="1143000"/>
          </a:xfrm>
          <a:prstGeom prst="roundRect">
            <a:avLst>
              <a:gd name="adj" fmla="val 17600"/>
            </a:avLst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7769352" y="4087368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3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9186672" y="4087368"/>
            <a:ext cx="43403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핵심 기능 · 결과물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7815072" y="5394960"/>
            <a:ext cx="5757672" cy="0"/>
          </a:xfrm>
          <a:prstGeom prst="line">
            <a:avLst/>
          </a:prstGeom>
          <a:noFill/>
          <a:ln w="25400">
            <a:solidFill>
              <a:srgbClr val="D6E6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0792" y="5614416"/>
            <a:ext cx="5666232" cy="22512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9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저상버스 실시간 3단계 판별</a:t>
            </a:r>
            <a:endParaRPr lang="en-US" sz="1900" dirty="0"/>
          </a:p>
          <a:p>
            <a:pPr algn="l" lvl="1" marL="3556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GBIS lowPlate → 차량위치 → 노선 키워드 교차검증</a:t>
            </a:r>
            <a:endParaRPr lang="en-US" sz="1900" dirty="0"/>
          </a:p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계단회피 도보 경로</a:t>
            </a:r>
            <a:endParaRPr lang="en-US" sz="1900" dirty="0"/>
          </a:p>
          <a:p>
            <a:pPr algn="l" lvl="1" marL="3556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Tmap 보행 API(계단 제외) + 턴바이턴 + 카카오 거리뷰</a:t>
            </a:r>
            <a:endParaRPr lang="en-US" sz="1900" dirty="0"/>
          </a:p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휠체어 맞춤 경로 우선 정렬</a:t>
            </a:r>
            <a:endParaRPr lang="en-US" sz="1900" dirty="0"/>
          </a:p>
          <a:p>
            <a:pPr algn="l" lvl="1" marL="3556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저상버스 친화도 점수화로 추천 경로 재정렬</a:t>
            </a:r>
            <a:endParaRPr lang="en-US" sz="1900" dirty="0"/>
          </a:p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지하철 교통약자 시설 안내</a:t>
            </a:r>
            <a:endParaRPr lang="en-US" sz="1900" dirty="0"/>
          </a:p>
          <a:p>
            <a:pPr algn="l" lvl="1" marL="3556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KRIC 역내 엘리베이터·리프트 도면 + 출구 자동 판별</a:t>
            </a:r>
            <a:endParaRPr lang="en-US" sz="1900" dirty="0"/>
          </a:p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AI 경로 브리핑</a:t>
            </a:r>
            <a:endParaRPr lang="en-US" sz="1900" dirty="0"/>
          </a:p>
          <a:p>
            <a:pPr algn="l" lvl="1" marL="3556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Gemini Vision이 역 도면을 분석해 이동 동선 안내</a:t>
            </a:r>
            <a:endParaRPr lang="en-US" sz="1900" dirty="0"/>
          </a:p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실시간 안내 모드</a:t>
            </a:r>
            <a:endParaRPr lang="en-US" sz="1900" dirty="0"/>
          </a:p>
          <a:p>
            <a:pPr algn="l" lvl="1" marL="3556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GPS 기반 도보 네비, 정류장 진행 화면, 승·하차 알람</a:t>
            </a:r>
            <a:endParaRPr lang="en-US" sz="1900" dirty="0"/>
          </a:p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77B4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저상버스 · 광역 · 마을 · 지하철 색상 구분 지도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14349984" y="3794760"/>
            <a:ext cx="6489192" cy="12795382"/>
          </a:xfrm>
          <a:prstGeom prst="roundRect">
            <a:avLst>
              <a:gd name="adj" fmla="val 3946"/>
            </a:avLst>
          </a:prstGeom>
          <a:solidFill>
            <a:srgbClr val="FFFFFF"/>
          </a:solidFill>
          <a:ln w="31750">
            <a:solidFill>
              <a:srgbClr val="D6E6F5"/>
            </a:solidFill>
            <a:prstDash val="solid"/>
          </a:ln>
          <a:effectLst>
            <a:outerShdw sx="100000" sy="100000" kx="0" ky="0" algn="bl" rotWithShape="0" blurRad="76200" dist="38100" dir="5400000">
              <a:srgbClr val="B9CBDD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670024" y="4087368"/>
            <a:ext cx="1143000" cy="1143000"/>
          </a:xfrm>
          <a:prstGeom prst="roundRect">
            <a:avLst>
              <a:gd name="adj" fmla="val 17600"/>
            </a:avLst>
          </a:prstGeom>
          <a:solidFill>
            <a:srgbClr val="F5B400"/>
          </a:solidFill>
          <a:ln/>
        </p:spPr>
      </p:sp>
      <p:sp>
        <p:nvSpPr>
          <p:cNvPr id="27" name="Text 25"/>
          <p:cNvSpPr/>
          <p:nvPr/>
        </p:nvSpPr>
        <p:spPr>
          <a:xfrm>
            <a:off x="14670024" y="4087368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4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16087344" y="4087368"/>
            <a:ext cx="43403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기술 구현 &amp; 타당성</a:t>
            </a:r>
            <a:endParaRPr lang="en-US" sz="2700" dirty="0"/>
          </a:p>
        </p:txBody>
      </p:sp>
      <p:sp>
        <p:nvSpPr>
          <p:cNvPr id="29" name="Shape 27"/>
          <p:cNvSpPr/>
          <p:nvPr/>
        </p:nvSpPr>
        <p:spPr>
          <a:xfrm>
            <a:off x="14715744" y="5394960"/>
            <a:ext cx="5757672" cy="0"/>
          </a:xfrm>
          <a:prstGeom prst="line">
            <a:avLst/>
          </a:prstGeom>
          <a:noFill/>
          <a:ln w="25400">
            <a:solidFill>
              <a:srgbClr val="D6E6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761464" y="5614416"/>
            <a:ext cx="5666232" cy="10701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9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구현 스택</a:t>
            </a:r>
            <a:endParaRPr lang="en-US" sz="19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React Native (Expo) · TypeScript</a:t>
            </a:r>
            <a:endParaRPr lang="en-US" sz="19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FastAPI 백엔드 (로직 1벌로 웹·앱 공유)</a:t>
            </a:r>
            <a:endParaRPr lang="en-US" sz="1900" dirty="0"/>
          </a:p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활용 데이터</a:t>
            </a:r>
            <a:endParaRPr lang="en-US" sz="19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경기 GBIS · 국토부 TAGO (버스)</a:t>
            </a:r>
            <a:endParaRPr lang="en-US" sz="19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KRIC 레일포털 (역 교통약자 시설)</a:t>
            </a:r>
            <a:endParaRPr lang="en-US" sz="19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ODsay(경로) · Tmap(보행) · Kakao(지도)</a:t>
            </a:r>
            <a:endParaRPr lang="en-US" sz="19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Google Gemini Vision (AI 도면 분석)</a:t>
            </a:r>
            <a:endParaRPr lang="en-US" sz="1900" dirty="0"/>
          </a:p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A36A0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타당성: 모두 공개 공공·상용 API로 검증 가능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14349984" y="17001622"/>
            <a:ext cx="6489192" cy="11399642"/>
          </a:xfrm>
          <a:prstGeom prst="roundRect">
            <a:avLst>
              <a:gd name="adj" fmla="val 3946"/>
            </a:avLst>
          </a:prstGeom>
          <a:solidFill>
            <a:srgbClr val="FFFFFF"/>
          </a:solidFill>
          <a:ln w="31750">
            <a:solidFill>
              <a:srgbClr val="D6E6F5"/>
            </a:solidFill>
            <a:prstDash val="solid"/>
          </a:ln>
          <a:effectLst>
            <a:outerShdw sx="100000" sy="100000" kx="0" ky="0" algn="bl" rotWithShape="0" blurRad="76200" dist="38100" dir="5400000">
              <a:srgbClr val="B9CBDD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4670024" y="17294230"/>
            <a:ext cx="1143000" cy="1143000"/>
          </a:xfrm>
          <a:prstGeom prst="roundRect">
            <a:avLst>
              <a:gd name="adj" fmla="val 17600"/>
            </a:avLst>
          </a:prstGeom>
          <a:solidFill>
            <a:srgbClr val="2DB400"/>
          </a:solidFill>
          <a:ln/>
        </p:spPr>
      </p:sp>
      <p:sp>
        <p:nvSpPr>
          <p:cNvPr id="33" name="Text 31"/>
          <p:cNvSpPr/>
          <p:nvPr/>
        </p:nvSpPr>
        <p:spPr>
          <a:xfrm>
            <a:off x="14670024" y="1729423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5</a:t>
            </a:r>
            <a:endParaRPr lang="en-US" sz="4600" dirty="0"/>
          </a:p>
        </p:txBody>
      </p:sp>
      <p:sp>
        <p:nvSpPr>
          <p:cNvPr id="34" name="Text 32"/>
          <p:cNvSpPr/>
          <p:nvPr/>
        </p:nvSpPr>
        <p:spPr>
          <a:xfrm>
            <a:off x="16087344" y="17294230"/>
            <a:ext cx="43403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기대효과 &amp; 느낀점</a:t>
            </a:r>
            <a:endParaRPr lang="en-US" sz="2700" dirty="0"/>
          </a:p>
        </p:txBody>
      </p:sp>
      <p:sp>
        <p:nvSpPr>
          <p:cNvPr id="35" name="Shape 33"/>
          <p:cNvSpPr/>
          <p:nvPr/>
        </p:nvSpPr>
        <p:spPr>
          <a:xfrm>
            <a:off x="14715744" y="18601822"/>
            <a:ext cx="5757672" cy="0"/>
          </a:xfrm>
          <a:prstGeom prst="line">
            <a:avLst/>
          </a:prstGeom>
          <a:noFill/>
          <a:ln w="25400">
            <a:solidFill>
              <a:srgbClr val="D6E6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761464" y="18821278"/>
            <a:ext cx="5666232" cy="93056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교통약자의 이동권·자립성 향상</a:t>
            </a:r>
            <a:endParaRPr lang="en-US" sz="17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실시간·AI 안내로 외출 부담과 불확실성 감소</a:t>
            </a:r>
            <a:endParaRPr lang="en-US" sz="17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한 앱에서 저상버스·시설·도보까지 통합 확인</a:t>
            </a:r>
            <a:endParaRPr lang="en-US" sz="1700" dirty="0"/>
          </a:p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02F6C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느낀점</a:t>
            </a:r>
            <a:endParaRPr lang="en-US" sz="17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공공데이터의 한계를 교차검증·AI로 보완할 수 있음을 확인</a:t>
            </a:r>
            <a:endParaRPr lang="en-US" sz="1700" dirty="0"/>
          </a:p>
          <a:p>
            <a:pPr algn="l"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33140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사용자(교통약자) 관점의 설계가 핵심임을 체감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548640" y="28675584"/>
            <a:ext cx="20290536" cy="1051560"/>
          </a:xfrm>
          <a:prstGeom prst="roundRect">
            <a:avLst>
              <a:gd name="adj" fmla="val 21739"/>
            </a:avLst>
          </a:prstGeom>
          <a:solidFill>
            <a:srgbClr val="002F6C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28675584"/>
            <a:ext cx="19559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23F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툭 타  </a:t>
            </a:r>
            <a:pPr algn="l" indent="0" marL="0">
              <a:buNone/>
            </a:pPr>
            <a:r>
              <a:rPr lang="en-US" sz="2200" dirty="0">
                <a:solidFill>
                  <a:srgbClr val="CFE3F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TOOK-TAH</a:t>
            </a:r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      이동의 장벽을 툭, 넘다 — 교통약자 누구나 닿을 수 있는 길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2026-06-08T08:32:49Z</dcterms:created>
  <dcterms:modified xsi:type="dcterms:W3CDTF">2026-06-08T08:32:49Z</dcterms:modified>
</cp:coreProperties>
</file>